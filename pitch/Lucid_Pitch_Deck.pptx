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BFC9E8"/>
                </a:solidFill>
                <a:latin typeface="Calibri"/>
              </a:rPr>
              <a:t>Lucid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FFFFFF"/>
                </a:solidFill>
                <a:latin typeface="Calibri"/>
              </a:rPr>
              <a:t>Be lucid.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9FABCE"/>
                </a:solidFill>
                <a:latin typeface="Calibri"/>
              </a:rPr>
              <a:t>Your verified second brain.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6B8AFD"/>
                </a:solidFill>
                <a:latin typeface="Calibri"/>
              </a:rPr>
              <a:t>AI generates infinitely. Lucid validates.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79C"/>
                </a:solidFill>
                <a:latin typeface="Calibri"/>
              </a:rPr>
              <a:t>Seed Round  .  May 2026  .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8AFD"/>
                </a:solidFill>
                <a:latin typeface="Calibri"/>
              </a:rPr>
              <a:t>01 .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F2C"/>
                </a:solidFill>
                <a:latin typeface="Calibri"/>
              </a:rPr>
              <a:t>The crisis isn't volume. It's validation.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F2C"/>
                </a:solidFill>
                <a:latin typeface="Calibri"/>
              </a:rPr>
              <a:t>·  34 GB of information a day - under 5% is retained</a:t>
            </a:r>
          </a:p>
          <a:p>
            <a:pPr algn="l"/>
            <a:r>
              <a:rPr sz="1800" b="0" i="0">
                <a:solidFill>
                  <a:srgbClr val="1A1F2C"/>
                </a:solidFill>
                <a:latin typeface="Calibri"/>
              </a:rPr>
              <a:t>·  9.3 hours a week re-finding information already seen (McKinsey)</a:t>
            </a:r>
          </a:p>
          <a:p>
            <a:pPr algn="l"/>
            <a:r>
              <a:rPr sz="1800" b="0" i="0">
                <a:solidFill>
                  <a:srgbClr val="1A1F2C"/>
                </a:solidFill>
                <a:latin typeface="Calibri"/>
              </a:rPr>
              <a:t>·  In 2024 AI content overtook human content (Europol) - telling true from false is near-impossible</a:t>
            </a:r>
          </a:p>
          <a:p>
            <a:pPr algn="l"/>
            <a:r>
              <a:rPr sz="1800" b="0" i="0">
                <a:solidFill>
                  <a:srgbClr val="1A1F2C"/>
                </a:solidFill>
                <a:latin typeface="Calibri"/>
              </a:rPr>
              <a:t>·  Even captured into Notion or Pocket, the revisit rate is under 8%</a:t>
            </a:r>
          </a:p>
          <a:p>
            <a:pPr algn="l"/>
            <a:r>
              <a:rPr sz="1800" b="0" i="0">
                <a:solidFill>
                  <a:srgbClr val="1A1F2C"/>
                </a:solidFill>
                <a:latin typeface="Calibri"/>
              </a:rPr>
              <a:t>·  ChatGPT answers with the internet's general knowledge - not validated fact</a:t>
            </a:r>
          </a:p>
          <a:p>
            <a:pPr algn="l"/>
            <a:r>
              <a:rPr sz="1200" b="0" i="0">
                <a:solidFill>
                  <a:srgbClr val="1A1F2C"/>
                </a:solidFill>
                <a:latin typeface="Calibri"/>
              </a:rPr>
              <a:t/>
            </a:r>
          </a:p>
          <a:p>
            <a:pPr algn="l"/>
            <a:r>
              <a:rPr sz="1800" b="1" i="1">
                <a:solidFill>
                  <a:srgbClr val="1F2E5C"/>
                </a:solidFill>
                <a:latin typeface="Calibri"/>
              </a:rPr>
              <a:t>AI accelerates generation. It cannot accelerate human validation.</a:t>
            </a:r>
          </a:p>
          <a:p>
            <a:pPr algn="l"/>
            <a:r>
              <a:rPr sz="1800" b="1" i="1">
                <a:solidFill>
                  <a:srgbClr val="1F2E5C"/>
                </a:solidFill>
                <a:latin typeface="Calibri"/>
              </a:rPr>
              <a:t>The gap between them is our market.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Lucid . Be lucid. . 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8AFD"/>
                </a:solidFill>
                <a:latin typeface="Calibri"/>
              </a:rPr>
              <a:t>02 .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F2C"/>
                </a:solidFill>
                <a:latin typeface="Calibri"/>
              </a:rPr>
              <a:t>Validation becomes the scarce resource.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Lucid . Be lucid. . 3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9728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029200"/>
                <a:gridCol w="365760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Force</a:t>
                      </a:r>
                    </a:p>
                  </a:txBody>
                  <a:tcPr>
                    <a:solidFill>
                      <a:srgbClr val="1F2E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changed</a:t>
                      </a:r>
                    </a:p>
                  </a:txBody>
                  <a:tcPr>
                    <a:solidFill>
                      <a:srgbClr val="1F2E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Implication</a:t>
                      </a:r>
                    </a:p>
                  </a:txBody>
                  <a:tcPr>
                    <a:solidFill>
                      <a:srgbClr val="1F2E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LLM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Haiku 4.5 - ~$0.50 / user / 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A personal cognition layer is viable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AI content flood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2024: AI content &gt; human content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A validation market forms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Vector + graph DB maturity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Qdrant . Neo4j 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Hybrid retrieval is possible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Multimodal models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Vision captures video and images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Capture friction drops to zero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8AFD"/>
                </a:solidFill>
                <a:latin typeface="Calibri"/>
              </a:rPr>
              <a:t>03 . THE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F2C"/>
                </a:solidFill>
                <a:latin typeface="Calibri"/>
              </a:rPr>
              <a:t>AI generates infinitely. Lucid validates.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F2C"/>
                </a:solidFill>
                <a:latin typeface="Calibri"/>
              </a:rPr>
              <a:t/>
            </a:r>
          </a:p>
          <a:p>
            <a:pPr algn="l"/>
            <a:r>
              <a:rPr sz="1800" b="0" i="0">
                <a:solidFill>
                  <a:srgbClr val="6B7280"/>
                </a:solidFill>
                <a:latin typeface="Calibri"/>
              </a:rPr>
              <a:t>The tragedy of other AI startups: when the model improves, the wrapper disappears.</a:t>
            </a:r>
          </a:p>
          <a:p>
            <a:pPr algn="l"/>
            <a:r>
              <a:rPr sz="1800" b="1" i="0">
                <a:solidFill>
                  <a:srgbClr val="1F2E5C"/>
                </a:solidFill>
                <a:latin typeface="Calibri"/>
              </a:rPr>
              <a:t>What Lucid accumulates: human validation time. The one resource AI cannot save for you.</a:t>
            </a:r>
          </a:p>
          <a:p>
            <a:pPr algn="l"/>
            <a:r>
              <a:rPr sz="1600" b="0" i="0">
                <a:solidFill>
                  <a:srgbClr val="1A1F2C"/>
                </a:solidFill>
                <a:latin typeface="Calibri"/>
              </a:rPr>
              <a:t/>
            </a:r>
          </a:p>
          <a:p>
            <a:pPr algn="l"/>
            <a:r>
              <a:rPr sz="1700" b="1" i="0">
                <a:solidFill>
                  <a:srgbClr val="1F2E5C"/>
                </a:solidFill>
                <a:latin typeface="Calibri"/>
              </a:rPr>
              <a:t>Two lenses:</a:t>
            </a:r>
          </a:p>
          <a:p>
            <a:pPr algn="l"/>
            <a:r>
              <a:rPr sz="1700" b="0" i="0">
                <a:solidFill>
                  <a:srgbClr val="1A1F2C"/>
                </a:solidFill>
                <a:latin typeface="Calibri"/>
              </a:rPr>
              <a:t>·  Consumer  -&gt;  "Your verified second brain"</a:t>
            </a:r>
          </a:p>
          <a:p>
            <a:pPr algn="l"/>
            <a:r>
              <a:rPr sz="1700" b="0" i="0">
                <a:solidFill>
                  <a:srgbClr val="1A1F2C"/>
                </a:solidFill>
                <a:latin typeface="Calibri"/>
              </a:rPr>
              <a:t>·  Investor  -&gt;  "Validation infrastructure for the post-AI internet"</a:t>
            </a:r>
          </a:p>
          <a:p>
            <a:pPr algn="l"/>
            <a:r>
              <a:rPr sz="1200" b="0" i="0">
                <a:solidFill>
                  <a:srgbClr val="1A1F2C"/>
                </a:solidFill>
                <a:latin typeface="Calibri"/>
              </a:rPr>
              <a:t/>
            </a:r>
          </a:p>
          <a:p>
            <a:pPr algn="l"/>
            <a:r>
              <a:rPr sz="1500" b="0" i="1">
                <a:solidFill>
                  <a:srgbClr val="6B8AFD"/>
                </a:solidFill>
                <a:latin typeface="Calibri"/>
              </a:rPr>
              <a:t>What Wikipedia took 20 years to build - with AI tools, at 30 seconds of friction per user, down to the individual.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Lucid . Be lucid. . 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8AFD"/>
                </a:solidFill>
                <a:latin typeface="Calibri"/>
              </a:rPr>
              <a:t>04 .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F2C"/>
                </a:solidFill>
                <a:latin typeface="Calibri"/>
              </a:rPr>
              <a:t>60 seconds. Capture -&gt; 4-tier validate -&gt; Surface.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F2C"/>
                </a:solidFill>
                <a:latin typeface="Calibri"/>
              </a:rPr>
              <a:t>0:00   Watching a YouTube lecture</a:t>
            </a:r>
          </a:p>
          <a:p>
            <a:pPr algn="l"/>
            <a:r>
              <a:rPr sz="1700" b="0" i="0">
                <a:solidFill>
                  <a:srgbClr val="1A1F2C"/>
                </a:solidFill>
                <a:latin typeface="Calibri"/>
              </a:rPr>
              <a:t>0:10   Right-click -&gt; Lucid -&gt; AI runs speech-to-text -&gt; extracts 3 facts</a:t>
            </a:r>
          </a:p>
          <a:p>
            <a:pPr algn="l"/>
            <a:r>
              <a:rPr sz="1700" b="0" i="0">
                <a:solidFill>
                  <a:srgbClr val="1A1F2C"/>
                </a:solidFill>
                <a:latin typeface="Calibri"/>
              </a:rPr>
              <a:t>0:20   L1 self-validation (5-sec HITL) - accept 2, tag 1 "uncertain"</a:t>
            </a:r>
          </a:p>
          <a:p>
            <a:pPr algn="l"/>
            <a:r>
              <a:rPr sz="1700" b="0" i="0">
                <a:solidFill>
                  <a:srgbClr val="6B8AFD"/>
                </a:solidFill>
                <a:latin typeface="Calibri"/>
              </a:rPr>
              <a:t>0:25   L3 system: 4,200 others stored the same facts (89% consensus) - shown automatically</a:t>
            </a:r>
          </a:p>
          <a:p>
            <a:pPr algn="l"/>
            <a:r>
              <a:rPr sz="1700" b="1" i="0">
                <a:solidFill>
                  <a:srgbClr val="1F2E5C"/>
                </a:solidFill>
                <a:latin typeface="Calibri"/>
              </a:rPr>
              <a:t>0:35   Start writing -&gt; validated facts surface in the sidebar (with L1+L3 check badges)</a:t>
            </a:r>
          </a:p>
          <a:p>
            <a:pPr algn="l"/>
            <a:r>
              <a:rPr sz="1700" b="0" i="0">
                <a:solidFill>
                  <a:srgbClr val="1A1F2C"/>
                </a:solidFill>
                <a:latin typeface="Calibri"/>
              </a:rPr>
              <a:t>0:50   One click cites it - source and validation status attached automatically</a:t>
            </a:r>
          </a:p>
          <a:p>
            <a:pPr algn="l"/>
            <a:r>
              <a:rPr sz="1700" b="0" i="0">
                <a:solidFill>
                  <a:srgbClr val="B86E00"/>
                </a:solidFill>
                <a:latin typeface="Calibri"/>
              </a:rPr>
              <a:t>Later   On a contradictory claim on Twitter -&gt; alert comparing it against your graph and L3 consensus</a:t>
            </a:r>
          </a:p>
          <a:p>
            <a:pPr algn="l"/>
            <a:r>
              <a:rPr sz="1200" b="0" i="0">
                <a:solidFill>
                  <a:srgbClr val="1A1F2C"/>
                </a:solidFill>
                <a:latin typeface="Calibri"/>
              </a:rPr>
              <a:t/>
            </a:r>
          </a:p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[ 60-second demo video placeholder - Loom link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Lucid . Be lucid. . 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8AFD"/>
                </a:solidFill>
                <a:latin typeface="Calibri"/>
              </a:rPr>
              <a:t>05 . THE VALIDATION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F2C"/>
                </a:solidFill>
                <a:latin typeface="Calibri"/>
              </a:rPr>
              <a:t>Four tiers. One transparent badge.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F2C"/>
                </a:solidFill>
                <a:latin typeface="Calibri"/>
              </a:rPr>
              <a:t>Fact: "The transition to renewable energy raises electricity prices in the short term."</a:t>
            </a:r>
          </a:p>
          <a:p>
            <a:pPr algn="l"/>
            <a:r>
              <a:rPr sz="600" b="0" i="0">
                <a:solidFill>
                  <a:srgbClr val="1A1F2C"/>
                </a:solidFill>
                <a:latin typeface="Calibri"/>
              </a:rPr>
              <a:t/>
            </a:r>
          </a:p>
          <a:p>
            <a:pPr algn="l"/>
            <a:r>
              <a:rPr sz="1500" b="0" i="0">
                <a:solidFill>
                  <a:srgbClr val="1F7A4D"/>
                </a:solidFill>
                <a:latin typeface="Calibri"/>
              </a:rPr>
              <a:t>L1  Self-validated        You (2 sources cross-checked)</a:t>
            </a:r>
          </a:p>
          <a:p>
            <a:pPr algn="l"/>
            <a:r>
              <a:rPr sz="1500" b="0" i="0">
                <a:solidFill>
                  <a:srgbClr val="1F7A4D"/>
                </a:solidFill>
                <a:latin typeface="Calibri"/>
              </a:rPr>
              <a:t>L2  Peer-validated        38 of 47 in your trust network agree (81%)</a:t>
            </a:r>
          </a:p>
          <a:p>
            <a:pPr algn="l"/>
            <a:r>
              <a:rPr sz="1500" b="0" i="0">
                <a:solidFill>
                  <a:srgbClr val="1F7A4D"/>
                </a:solidFill>
                <a:latin typeface="Calibri"/>
              </a:rPr>
              <a:t>L3  System consensus     73% of 6,421 users agree</a:t>
            </a:r>
          </a:p>
          <a:p>
            <a:pPr algn="l"/>
            <a:r>
              <a:rPr sz="1500" b="0" i="0">
                <a:solidFill>
                  <a:srgbClr val="1F7A4D"/>
                </a:solidFill>
                <a:latin typeface="Calibri"/>
              </a:rPr>
              <a:t>L4  Expert-verified       Verified by Dr. Park (PhD, energy economics)</a:t>
            </a:r>
          </a:p>
          <a:p>
            <a:pPr algn="l"/>
            <a:r>
              <a:rPr sz="400" b="0" i="0">
                <a:solidFill>
                  <a:srgbClr val="1A1F2C"/>
                </a:solidFill>
                <a:latin typeface="Calibri"/>
              </a:rPr>
              <a:t/>
            </a:r>
          </a:p>
          <a:p>
            <a:pPr algn="l"/>
            <a:r>
              <a:rPr sz="1500" b="1" i="0">
                <a:solidFill>
                  <a:srgbClr val="B86E00"/>
                </a:solidFill>
                <a:latin typeface="Calibri"/>
              </a:rPr>
              <a:t>Contradiction map</a:t>
            </a:r>
          </a:p>
          <a:p>
            <a:pPr algn="l"/>
            <a:r>
              <a:rPr sz="1300" b="0" i="0">
                <a:solidFill>
                  <a:srgbClr val="B86E00"/>
                </a:solidFill>
                <a:latin typeface="Calibri"/>
              </a:rPr>
              <a:t>    · 19% of users (n=1,221) store the opposing fact: "lowers prices in the long term"</a:t>
            </a:r>
          </a:p>
          <a:p>
            <a:pPr algn="l"/>
            <a:r>
              <a:rPr sz="1300" b="0" i="0">
                <a:solidFill>
                  <a:srgbClr val="B86E00"/>
                </a:solidFill>
                <a:latin typeface="Calibri"/>
              </a:rPr>
              <a:t>    · the opposing fact is not L4-verified</a:t>
            </a:r>
          </a:p>
          <a:p>
            <a:pPr algn="l"/>
            <a:r>
              <a:rPr sz="400" b="0" i="0">
                <a:solidFill>
                  <a:srgbClr val="1A1F2C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Provenance trail (4 hops):  BloombergNEF -&gt; IEA -&gt; government report -&gt; original paper</a:t>
            </a:r>
          </a:p>
          <a:p>
            <a:pPr algn="l"/>
            <a:r>
              <a:rPr sz="600" b="0" i="0">
                <a:solidFill>
                  <a:srgbClr val="1A1F2C"/>
                </a:solidFill>
                <a:latin typeface="Calibri"/>
              </a:rPr>
              <a:t/>
            </a:r>
          </a:p>
          <a:p>
            <a:pPr algn="l"/>
            <a:r>
              <a:rPr sz="1400" b="1" i="1">
                <a:solidFill>
                  <a:srgbClr val="1F2E5C"/>
                </a:solidFill>
                <a:latin typeface="Calibri"/>
              </a:rPr>
              <a:t>This transparency exists in no other tool - Obsidian, Notion, Mem, ChatGPT. It defines our category.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Lucid . Be lucid. . 6 / 16  .  Centerpiece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8AFD"/>
                </a:solidFill>
                <a:latin typeface="Calibri"/>
              </a:rPr>
              <a:t>06 .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F2C"/>
                </a:solidFill>
                <a:latin typeface="Calibri"/>
              </a:rPr>
              <a:t>Cognitive science + epistemic vigilance.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Lucid . Be lucid. . 7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972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017520"/>
                <a:gridCol w="502920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Cognitive process</a:t>
                      </a:r>
                    </a:p>
                  </a:txBody>
                  <a:tcPr>
                    <a:solidFill>
                      <a:srgbClr val="1F2E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Theory</a:t>
                      </a:r>
                    </a:p>
                  </a:txBody>
                  <a:tcPr>
                    <a:solidFill>
                      <a:srgbClr val="1F2E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Lucid implementation</a:t>
                      </a:r>
                    </a:p>
                  </a:txBody>
                  <a:tcPr>
                    <a:solidFill>
                      <a:srgbClr val="1F2E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Spreading activation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Collins &amp; Loftus (1975)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Graph traversal + vector ANN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Working &lt;-&gt; long-term memory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Baddeley &amp; Hitch (1974)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Context-aware inline surfacing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Encoding specificity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Tulving (1973)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Capture context preserved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Source monitoring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Johnson et al. (1993)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Permanent provenance edges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Epistemic vigilance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Sperber et al. (2010)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4-tier validation badge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8AFD"/>
                </a:solidFill>
                <a:latin typeface="Calibri"/>
              </a:rPr>
              <a:t>07 . KILLER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F2C"/>
                </a:solidFill>
                <a:latin typeface="Calibri"/>
              </a:rPr>
              <a:t>Search becomes surfacing. Notes become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F2C"/>
                </a:solidFill>
                <a:latin typeface="Calibri"/>
              </a:rPr>
              <a:t>·  Drafting Assistant - validated facts surface as you write; L1-L4 badges shown on citation</a:t>
            </a:r>
          </a:p>
          <a:p>
            <a:pPr algn="l"/>
            <a:r>
              <a:rPr sz="1600" b="0" i="0">
                <a:solidFill>
                  <a:srgbClr val="1A1F2C"/>
                </a:solidFill>
                <a:latin typeface="Calibri"/>
              </a:rPr>
              <a:t>·  Truth Lens - meet a claim while browsing, see its L3 consensus against your graph instantly</a:t>
            </a:r>
          </a:p>
          <a:p>
            <a:pPr algn="l"/>
            <a:r>
              <a:rPr sz="1600" b="0" i="0">
                <a:solidFill>
                  <a:srgbClr val="1A1F2C"/>
                </a:solidFill>
                <a:latin typeface="Calibri"/>
              </a:rPr>
              <a:t>·  Decision Support - when deciding, see related nodes, past judgments, and 4-tier status at a glance</a:t>
            </a:r>
          </a:p>
          <a:p>
            <a:pPr algn="l"/>
            <a:r>
              <a:rPr sz="1600" b="0" i="0">
                <a:solidFill>
                  <a:srgbClr val="1A1F2C"/>
                </a:solidFill>
                <a:latin typeface="Calibri"/>
              </a:rPr>
              <a:t>·  Re-discovery - natural-language search + validation-tier filter ("show me only L3 80%+")</a:t>
            </a:r>
          </a:p>
          <a:p>
            <a:pPr algn="l"/>
            <a:r>
              <a:rPr sz="1600" b="0" i="0">
                <a:solidFill>
                  <a:srgbClr val="1A1F2C"/>
                </a:solidFill>
                <a:latin typeface="Calibri"/>
              </a:rPr>
              <a:t>·  Conflict Resolver - when a new capture conflicts with an existing fact, auto-alert + both sides'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Lucid . Be lucid. . 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8AFD"/>
                </a:solidFill>
                <a:latin typeface="Calibri"/>
              </a:rPr>
              <a:t>08 .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F2C"/>
                </a:solidFill>
                <a:latin typeface="Calibri"/>
              </a:rPr>
              <a:t>Trust &amp; truth infrastructure - a newly emerging category.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Lucid . Be lucid. . 9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12471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468880"/>
                <a:gridCol w="603504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Comparable</a:t>
                      </a:r>
                    </a:p>
                  </a:txBody>
                  <a:tcPr>
                    <a:solidFill>
                      <a:srgbClr val="1F2E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Valuation / ARR</a:t>
                      </a:r>
                    </a:p>
                  </a:txBody>
                  <a:tcPr>
                    <a:solidFill>
                      <a:srgbClr val="1F2E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they validate</a:t>
                      </a:r>
                    </a:p>
                  </a:txBody>
                  <a:tcPr>
                    <a:solidFill>
                      <a:srgbClr val="1F2E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Perplexity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$9B (2025)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No validation - AI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Glean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$2.2B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No validation - enterprise search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Wikipedia (non-profit)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270M monthly 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Community-validated, English general knowledge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Snopes / FactCheck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~$10M ARR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Expert-validated, narrow scope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Community Notes (X)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Built into 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Crowd-consensus algorithm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TAM / SAM / SOM (3yr)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$25B / $700M / $30M ARR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1B knowledge workers x 1% x $150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8AFD"/>
                </a:solidFill>
                <a:latin typeface="Calibri"/>
              </a:rPr>
              <a:t>09 . 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F2C"/>
                </a:solidFill>
                <a:latin typeface="Calibri"/>
              </a:rPr>
              <a:t>Obsidian is the strongest comparator. Here's the gap.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E5C"/>
                </a:solidFill>
                <a:latin typeface="Calibri"/>
              </a:rPr>
              <a:t>Obsidian's strengths:</a:t>
            </a:r>
          </a:p>
          <a:p>
            <a:pPr algn="l"/>
            <a:r>
              <a:rPr sz="1300" b="0" i="0">
                <a:solidFill>
                  <a:srgbClr val="1A1F2C"/>
                </a:solidFill>
                <a:latin typeface="Calibri"/>
              </a:rPr>
              <a:t>·  Local-first DNA . trust capital . 1,500+ plugins . ~15 staff, est. $30M ARR, 80% margin</a:t>
            </a:r>
          </a:p>
          <a:p>
            <a:pPr algn="l"/>
            <a:r>
              <a:rPr sz="600" b="0" i="0">
                <a:solidFill>
                  <a:srgbClr val="1A1F2C"/>
                </a:solidFill>
                <a:latin typeface="Calibri"/>
              </a:rPr>
              <a:t/>
            </a:r>
          </a:p>
          <a:p>
            <a:pPr algn="l"/>
            <a:r>
              <a:rPr sz="1400" b="1" i="0">
                <a:solidFill>
                  <a:srgbClr val="1F2E5C"/>
                </a:solidFill>
                <a:latin typeface="Calibri"/>
              </a:rPr>
              <a:t>Obsidian's limits = our entry path:</a:t>
            </a:r>
          </a:p>
          <a:p>
            <a:pPr algn="l"/>
            <a:r>
              <a:rPr sz="1300" b="0" i="0">
                <a:solidFill>
                  <a:srgbClr val="1A1F2C"/>
                </a:solidFill>
                <a:latin typeface="Calibri"/>
              </a:rPr>
              <a:t>·  30%+ churn in week one of the learning curve . AI-native impossible (philosophically &amp; structurally) . no validation mechanism . no collaboration</a:t>
            </a:r>
          </a:p>
          <a:p>
            <a:pPr algn="l"/>
            <a:r>
              <a:rPr sz="600" b="0" i="0">
                <a:solidFill>
                  <a:srgbClr val="1A1F2C"/>
                </a:solidFill>
                <a:latin typeface="Calibri"/>
              </a:rPr>
              <a:t/>
            </a:r>
          </a:p>
          <a:p>
            <a:pPr algn="l"/>
            <a:r>
              <a:rPr sz="1400" b="1" i="0">
                <a:solidFill>
                  <a:srgbClr val="1F2E5C"/>
                </a:solidFill>
                <a:latin typeface="Calibri"/>
              </a:rPr>
              <a:t>Market signal:</a:t>
            </a:r>
          </a:p>
          <a:p>
            <a:pPr algn="l"/>
            <a:r>
              <a:rPr sz="1300" b="0" i="0">
                <a:solidFill>
                  <a:srgbClr val="1A1F2C"/>
                </a:solidFill>
                <a:latin typeface="Calibri"/>
              </a:rPr>
              <a:t>·  Obsidian + AI-plugin assembly workflows + paid training programs = AI-PKM demand is validated</a:t>
            </a:r>
          </a:p>
          <a:p>
            <a:pPr algn="l"/>
            <a:r>
              <a:rPr sz="1300" b="0" i="0">
                <a:solidFill>
                  <a:srgbClr val="1A1F2C"/>
                </a:solidFill>
                <a:latin typeface="Calibri"/>
              </a:rPr>
              <a:t>·  but assembly-based solutions cannot implement a validation layer - our native advantage</a:t>
            </a:r>
          </a:p>
          <a:p>
            <a:pPr algn="l"/>
            <a:r>
              <a:rPr sz="800" b="0" i="0">
                <a:solidFill>
                  <a:srgbClr val="1A1F2C"/>
                </a:solidFill>
                <a:latin typeface="Calibri"/>
              </a:rPr>
              <a:t/>
            </a:r>
          </a:p>
          <a:p>
            <a:pPr algn="l"/>
            <a:r>
              <a:rPr sz="1400" b="1" i="0">
                <a:solidFill>
                  <a:srgbClr val="1F2E5C"/>
                </a:solidFill>
                <a:latin typeface="Calibri"/>
              </a:rPr>
              <a:t>Our ICP (not Obsidian heavy users):</a:t>
            </a:r>
          </a:p>
          <a:p>
            <a:pPr algn="l"/>
            <a:r>
              <a:rPr sz="1300" b="0" i="0">
                <a:solidFill>
                  <a:srgbClr val="1A1F2C"/>
                </a:solidFill>
                <a:latin typeface="Calibri"/>
              </a:rPr>
              <a:t>·  Obsidian try-and-churn users (4.5M) + knowledge workers who never even tried PKM (93M)</a:t>
            </a:r>
          </a:p>
          <a:p>
            <a:pPr algn="l"/>
            <a:r>
              <a:rPr sz="1300" b="0" i="0">
                <a:solidFill>
                  <a:srgbClr val="1A1F2C"/>
                </a:solidFill>
                <a:latin typeface="Calibri"/>
              </a:rPr>
              <a:t>·  those aware of the AI trust crisis (researchers . journalists . legal . R&amp;D)</a:t>
            </a:r>
          </a:p>
          <a:p>
            <a:pPr algn="l"/>
            <a:r>
              <a:rPr sz="400" b="0" i="0">
                <a:solidFill>
                  <a:srgbClr val="1A1F2C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                  General data            Personal data</a:t>
            </a:r>
          </a:p>
          <a:p>
            <a:pPr algn="l"/>
            <a:r>
              <a:rPr sz="1400" b="1" i="0">
                <a:solidFill>
                  <a:srgbClr val="1A1F2C"/>
                </a:solidFill>
                <a:latin typeface="Calibri"/>
              </a:rPr>
              <a:t>Validated     Wikipedia . Snopes      * LUCID (empty)</a:t>
            </a:r>
          </a:p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Unfiltered     Google . ChatGPT       Obsidian . Notion . Mem . Rewind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Lucid . Be lucid. . 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8AFD"/>
                </a:solidFill>
                <a:latin typeface="Calibri"/>
              </a:rPr>
              <a:t>10 . WEDGE &amp;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F2C"/>
                </a:solidFill>
                <a:latin typeface="Calibri"/>
              </a:rPr>
              <a:t>Four validation layers = four expansion stages.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Lucid . Be lucid. . 11 / 16  .  L3 is decisive - it emerges automatically once users gather, and cannot be copied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9728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291840"/>
                <a:gridCol w="3017520"/>
                <a:gridCol w="155448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>
                    <a:solidFill>
                      <a:srgbClr val="1F2E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1F2E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>
                    <a:solidFill>
                      <a:srgbClr val="1F2E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>
                    <a:solidFill>
                      <a:srgbClr val="1F2E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1. Personal cognition aid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L1 Self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Pro $19/mo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2. System consensus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L3 System (network effect)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Platform layer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2026-27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3. Trust-network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L2 Peer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Team $39/seat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4. Expert validation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L4 Expert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Marketplace / Enterprise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2028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8AFD"/>
                </a:solidFill>
                <a:latin typeface="Calibri"/>
              </a:rPr>
              <a:t>11 . 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F2C"/>
                </a:solidFill>
                <a:latin typeface="Calibri"/>
              </a:rPr>
              <a:t>4 validation layers = 5 revenue lines.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Lucid . Be lucid. . 12 / 16  .  LTV $310 . CAC $90 . LTV/CAC 3.4x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972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03120"/>
                <a:gridCol w="3474720"/>
                <a:gridCol w="356616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>
                    <a:solidFill>
                      <a:srgbClr val="1F2E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Price</a:t>
                      </a:r>
                    </a:p>
                  </a:txBody>
                  <a:tcPr>
                    <a:solidFill>
                      <a:srgbClr val="1F2E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Validation access</a:t>
                      </a:r>
                    </a:p>
                  </a:txBody>
                  <a:tcPr>
                    <a:solidFill>
                      <a:srgbClr val="1F2E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>
                    <a:solidFill>
                      <a:srgbClr val="1F2E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L1 + part of L3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Acquisition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Pro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$19/mo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L1 + L3 + L2 preview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Individual knowledge workers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$39/seat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L1 + L2 + L3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Study groups . labs . teams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Enterprise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$50-200/seat/mo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L1-L4 + domain experts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Legal . R&amp;D . consulting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Validation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$10K-50K/yr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L3 + provenance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AI companies . search . publishers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8AFD"/>
                </a:solidFill>
                <a:latin typeface="Calibri"/>
              </a:rPr>
              <a:t>12 . DEFENSIBILITY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F2C"/>
                </a:solidFill>
                <a:latin typeface="Calibri"/>
              </a:rPr>
              <a:t>Five moats compound.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F2C"/>
                </a:solidFill>
                <a:latin typeface="Calibri"/>
              </a:rPr>
              <a:t>1.   Switching cost - leave, and your validated cognitive asset + trust network + provenance trail are all gone</a:t>
            </a:r>
          </a:p>
          <a:p>
            <a:pPr algn="l"/>
            <a:r>
              <a:rPr sz="1500" b="0" i="0">
                <a:solidFill>
                  <a:srgbClr val="1A1F2C"/>
                </a:solidFill>
                <a:latin typeface="Calibri"/>
              </a:rPr>
              <a:t>2.   Compound personalization - the ranker fits you the more you use it. New entrants face cold-start</a:t>
            </a:r>
          </a:p>
          <a:p>
            <a:pPr algn="l"/>
            <a:r>
              <a:rPr sz="1500" b="0" i="0">
                <a:solidFill>
                  <a:srgbClr val="1A1F2C"/>
                </a:solidFill>
                <a:latin typeface="Calibri"/>
              </a:rPr>
              <a:t>3.   HITL-validated data - a labeled asset Anthropic / OpenAI do not have. Partnership / data-licensing optionality</a:t>
            </a:r>
          </a:p>
          <a:p>
            <a:pPr algn="l"/>
            <a:r>
              <a:rPr sz="1500" b="0" i="0">
                <a:solidFill>
                  <a:srgbClr val="1A1F2C"/>
                </a:solidFill>
                <a:latin typeface="Calibri"/>
              </a:rPr>
              <a:t>4.   Provenance graph - every fact permanently linked to its source. A verifiability LLMs cannot imitate</a:t>
            </a:r>
          </a:p>
          <a:p>
            <a:pPr algn="l"/>
            <a:r>
              <a:rPr sz="1500" b="1" i="0">
                <a:solidFill>
                  <a:srgbClr val="6B8AFD"/>
                </a:solidFill>
                <a:latin typeface="Calibri"/>
              </a:rPr>
              <a:t>5.   Network effect (L3) - more users, richer L3 system consensus. Latecomers cannot catch up</a:t>
            </a:r>
          </a:p>
          <a:p>
            <a:pPr algn="l"/>
            <a:r>
              <a:rPr sz="1000" b="0" i="0">
                <a:solidFill>
                  <a:srgbClr val="1A1F2C"/>
                </a:solidFill>
                <a:latin typeface="Calibri"/>
              </a:rPr>
              <a:t/>
            </a:r>
          </a:p>
          <a:p>
            <a:pPr algn="l"/>
            <a:r>
              <a:rPr sz="1500" b="0" i="1">
                <a:solidFill>
                  <a:srgbClr val="1F2E5C"/>
                </a:solidFill>
                <a:latin typeface="Calibri"/>
              </a:rPr>
              <a:t>Not an "AI wrapper." We lock the user's *validation labor* into a workflow LLMs cannot reach.</a:t>
            </a:r>
          </a:p>
          <a:p>
            <a:pPr algn="l"/>
            <a:r>
              <a:rPr sz="1500" b="0" i="1">
                <a:solidFill>
                  <a:srgbClr val="1F2E5C"/>
                </a:solidFill>
                <a:latin typeface="Calibri"/>
              </a:rPr>
              <a:t>With a 12-month lead, the structure becomes impossible to catch.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Lucid . Be lucid. . 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8AFD"/>
                </a:solidFill>
                <a:latin typeface="Calibri"/>
              </a:rPr>
              <a:t>13 . 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F2C"/>
                </a:solidFill>
                <a:latin typeface="Calibri"/>
              </a:rPr>
              <a:t>Shipped twice before raising.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F2C"/>
                </a:solidFill>
                <a:latin typeface="Calibri"/>
              </a:rPr>
              <a:t>Capture + graph + HITL layer (WisdomDB)</a:t>
            </a:r>
          </a:p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        Browser extension + mobile PWA + YouTube / PDF / image / audio extractors</a:t>
            </a:r>
          </a:p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        Neo4j ontology + accept / edit / discard workflow</a:t>
            </a:r>
          </a:p>
          <a:p>
            <a:pPr algn="l"/>
            <a:r>
              <a:rPr sz="600" b="0" i="0">
                <a:solidFill>
                  <a:srgbClr val="1A1F2C"/>
                </a:solidFill>
                <a:latin typeface="Calibri"/>
              </a:rPr>
              <a:t/>
            </a:r>
          </a:p>
          <a:p>
            <a:pPr algn="l"/>
            <a:r>
              <a:rPr sz="1600" b="1" i="0">
                <a:solidFill>
                  <a:srgbClr val="1A1F2C"/>
                </a:solidFill>
                <a:latin typeface="Calibri"/>
              </a:rPr>
              <a:t>Fact extraction . validation . answering engine (Student)</a:t>
            </a:r>
          </a:p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        The full learning-AI loop of the CMU SCHOLAR lineage (Carbonell, 1970)</a:t>
            </a:r>
          </a:p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        The core component of a "personal LLM brain" that reasons using validated facts only</a:t>
            </a:r>
          </a:p>
          <a:p>
            <a:pPr algn="l"/>
            <a:r>
              <a:rPr sz="600" b="0" i="0">
                <a:solidFill>
                  <a:srgbClr val="1A1F2C"/>
                </a:solidFill>
                <a:latin typeface="Calibri"/>
              </a:rPr>
              <a:t/>
            </a:r>
          </a:p>
          <a:p>
            <a:pPr algn="l"/>
            <a:r>
              <a:rPr sz="1600" b="1" i="0">
                <a:solidFill>
                  <a:srgbClr val="1F2E5C"/>
                </a:solidFill>
                <a:latin typeface="Calibri"/>
              </a:rPr>
              <a:t>-&gt;   Integrating the two systems = Lucid's cognition aid + 4-tier validation loop. Integrated beta within 8 weeks.</a:t>
            </a:r>
          </a:p>
          <a:p>
            <a:pPr algn="l"/>
            <a:r>
              <a:rPr sz="800" b="0" i="0">
                <a:solidFill>
                  <a:srgbClr val="1A1F2C"/>
                </a:solidFill>
                <a:latin typeface="Calibri"/>
              </a:rPr>
              <a:t/>
            </a:r>
          </a:p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[ N beta signups - update once recruitment data is in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Lucid . Be lucid. . 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8AFD"/>
                </a:solidFill>
                <a:latin typeface="Calibri"/>
              </a:rPr>
              <a:t>14 . 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F2C"/>
                </a:solidFill>
                <a:latin typeface="Calibri"/>
              </a:rPr>
              <a:t>Staged funding. Phase 0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Lucid . Be lucid. . 15 / 16  .  We advance only when the gate is met - capital follows proof, not the reverse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972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371600"/>
                <a:gridCol w="1828800"/>
                <a:gridCol w="3108960"/>
                <a:gridCol w="219456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>
                    <a:solidFill>
                      <a:srgbClr val="1F2E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Timeline</a:t>
                      </a:r>
                    </a:p>
                  </a:txBody>
                  <a:tcPr>
                    <a:solidFill>
                      <a:srgbClr val="1F2E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Raise</a:t>
                      </a:r>
                    </a:p>
                  </a:txBody>
                  <a:tcPr>
                    <a:solidFill>
                      <a:srgbClr val="1F2E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Use of funds</a:t>
                      </a:r>
                    </a:p>
                  </a:txBody>
                  <a:tcPr>
                    <a:solidFill>
                      <a:srgbClr val="1F2E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Gate to advance</a:t>
                      </a:r>
                    </a:p>
                  </a:txBody>
                  <a:tcPr>
                    <a:solidFill>
                      <a:srgbClr val="1F2E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Phase 0 - Bootstrap + Angel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0-6 mo (now)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~$37K (KRW 50-150M)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Solo + 1 part-time engineer; first PMF signal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50 paying users . 60%+ retention . NPS 40+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Phase 1 - Korean Seed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6-18 mo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KRW 300M-1B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Founding engineer + designer; GTM + Validation API beta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$30K MRR . 3 enterprise LOIs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Phase 2 - Series A / Profit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18 mo+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Optional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Scale the team; keep optionality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C"/>
                          </a:solidFill>
                          <a:latin typeface="Calibri"/>
                        </a:rPr>
                        <a:t>$1M ARR + 110% NRR  -or-  $2M ARR profitable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BFC9E8"/>
                </a:solidFill>
                <a:latin typeface="Calibri"/>
              </a:rPr>
              <a:t>Bush proposed it in 1945.</a:t>
            </a:r>
          </a:p>
          <a:p>
            <a:pPr algn="l"/>
            <a:r>
              <a:rPr sz="2400" b="0" i="0">
                <a:solidFill>
                  <a:srgbClr val="BFC9E8"/>
                </a:solidFill>
                <a:latin typeface="Calibri"/>
              </a:rPr>
              <a:t>Engelbart demoed it in 1968.</a:t>
            </a:r>
          </a:p>
          <a:p>
            <a:pPr algn="l"/>
            <a:r>
              <a:rPr sz="2400" b="0" i="0">
                <a:solidFill>
                  <a:srgbClr val="BFC9E8"/>
                </a:solidFill>
                <a:latin typeface="Calibri"/>
              </a:rPr>
              <a:t>Wikipedia institutionalized it in 2001.</a:t>
            </a:r>
          </a:p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Lucid ships it in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FFFFFF"/>
                </a:solidFill>
                <a:latin typeface="Calibri"/>
              </a:rPr>
              <a:t>Be lucid.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BFC9E8"/>
                </a:solidFill>
                <a:latin typeface="Calibri"/>
              </a:rPr>
              <a:t>Your verified second brain.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79C"/>
                </a:solidFill>
                <a:latin typeface="Calibri"/>
              </a:rPr>
              <a:t>Lucid  .  Validation infrastructure for the post-AI internet.   .   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